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contribution profit per successful transaction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 per successful transaction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  <c:pt idx="3">
                    <c:v>2026-04</c:v>
                  </c:pt>
                  <c:pt idx="4">
                    <c:v>2026-05</c:v>
                  </c:pt>
                  <c:pt idx="5">
                    <c:v>2026-06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0.07604268941824446</c:v>
                </c:pt>
                <c:pt idx="1">
                  <c:v>0.08828670025730524</c:v>
                </c:pt>
                <c:pt idx="2">
                  <c:v>0.1393675695201935</c:v>
                </c:pt>
                <c:pt idx="3">
                  <c:v>-0.06642347246126534</c:v>
                </c:pt>
                <c:pt idx="4">
                  <c:v>-0.1404300357127492</c:v>
                </c:pt>
                <c:pt idx="5">
                  <c:v>-0.10816516560090425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Routes contributing most to decline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deterioration contribution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R_IN_02</c:v>
                  </c:pt>
                  <c:pt idx="1">
                    <c:v>R_UAE_02</c:v>
                  </c:pt>
                  <c:pt idx="2">
                    <c:v>R_SG_02</c:v>
                  </c:pt>
                  <c:pt idx="3">
                    <c:v>R_IN_01</c:v>
                  </c:pt>
                  <c:pt idx="4">
                    <c:v>R_SG_01</c:v>
                  </c:pt>
                  <c:pt idx="5">
                    <c:v>R_UAE_01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2659.0769552463485</c:v>
                </c:pt>
                <c:pt idx="1">
                  <c:v>1927.4846736922714</c:v>
                </c:pt>
                <c:pt idx="2">
                  <c:v>1099.7334188511056</c:v>
                </c:pt>
                <c:pt idx="3">
                  <c:v>1032.6519723245633</c:v>
                </c:pt>
                <c:pt idx="4">
                  <c:v>466.3031650325721</c:v>
                </c:pt>
                <c:pt idx="5">
                  <c:v>334.67662556613055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Merchant mix vs within-segment effect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Mix effect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SME</c:v>
                  </c:pt>
                  <c:pt idx="2">
                    <c:v>Strategic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-0.02870946917768784</c:v>
                </c:pt>
                <c:pt idx="1">
                  <c:v>0.006806894308044863</c:v>
                </c:pt>
                <c:pt idx="2">
                  <c:v>-0.015569266018399941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Within effect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SME</c:v>
                  </c:pt>
                  <c:pt idx="2">
                    <c:v>Strategic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-0.041475858039504425</c:v>
                </c:pt>
                <c:pt idx="1">
                  <c:v>-0.10322853373094605</c:v>
                </c:pt>
                <c:pt idx="2">
                  <c:v>-0.03222615775042936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</a:rPr>
              <a:t>AstraPay Payment Profitability Diagnostic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691640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Executive recommendation from synthetic six-month transaction, settlement, routing, fraud and FX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148840"/>
            <a:ext cx="103327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45,409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Attempt volume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+53.5% vs Jan-Mar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0" y="27432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65911"/>
                </a:solidFill>
              </a:rPr>
              <a:t>84.5%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017520" y="3182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Success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34015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88.5% baseline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57800" y="27432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00020"/>
                </a:solidFill>
              </a:rPr>
              <a:t>$-0.107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257800" y="3182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CP / success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34015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from $0.105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0" y="27432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Mixed cause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498080" y="31821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Main answer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3401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Commercial mix + routing cost + latency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Decision required: change pricing guardrails, route allocation and operational controls in the next 60 days.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AstraPay capstone | Synthetic diagnostic dataset | USD operating economics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volume grew, but each successful transaction became less profitable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The deterioration is visible even after building a transaction-grain model and preventing one-to-many join inflation.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234440"/>
          <a:ext cx="6720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234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Validated KPI movement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09560" y="17373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29,591 → 45,409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09560" y="20391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Payment attempts increased materially.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27432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88.5% → 84.5%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09560" y="30449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Success rate declined, so growth did not fully convert.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09560" y="374904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0020"/>
                </a:solidFill>
              </a:rPr>
              <a:t>$0.105 → $-0.107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09560" y="40507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Unit economics deteriorated sharply.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AstraPay capstone | Synthetic diagnostic dataset | USD operating economics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deterioration concentrates in specific routes and merchant mix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Do not rank by lowest margin alone. The useful lens is contribution to total deterioration plus mix/within-segment separation.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261872"/>
          <a:ext cx="53949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46520" y="1261872"/>
          <a:ext cx="5120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AstraPay capstone | Synthetic diagnostic dataset | USD operating economics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four actions in 60 days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The evidence weakens a single-stakeholder story. Pricing matters, but routing cost and latency also materially explain the fall.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90472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Commercial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48840" y="13990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Reprice / renegotiate promotional SME cohorts where CP per success is below floor.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Merchant pricing floor restored; margin leakage reduced.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633472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25420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Shift traffic away from expensive/problem routes and set route-level cost guardrails.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25603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Lower processing cost and improved success 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776472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36850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Fix May-style latency spike on R_IN_02 with SLA monitoring and failover rules.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37033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Reduced failures/timeouts; stable P95 latency.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8463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919472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+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48280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Tune fraud v2.0 thresholds and separate true fraud protection from false-decline loss.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48463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Lower avoidable declines without increasing chargebacks.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AstraPay capstone | Synthetic diagnostic dataset | USD operating economics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Controls, risks and success criteria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Management should act quickly, but not by trusting raw joins or confusing attempts, successes and settlements.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Control / 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2984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Owner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12984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Success criterion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Transaction-grain governed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Data Head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1691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Model row count = distinct transaction_id; no one-to-many inflation.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75688"/>
            <a:ext cx="10789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951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FX rate-type control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295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Finance/Treasury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229514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Operating economics use SPOT; accounting sensitivity documented.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679192"/>
            <a:ext cx="10789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98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Route-cost guardrails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898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Head of Payments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8986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Processing cost per successful transaction declines within 60 days.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282696"/>
            <a:ext cx="10789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021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Latency 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3502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Payments Operations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35021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P95 latency returns to pre-deterioration level on affected routes.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10789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056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Pricing floor monitoring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41056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CFO/Commercial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410565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No new SME/promotional cohort below contribution floor.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489704"/>
            <a:ext cx="10789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5780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60-day test: CP per successful transaction improves, success rate recovers, and reconciliation checks remain clean.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AstraPay capstone | Synthetic diagnostic dataset | USD operating economics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Synthetic Training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AstraPay Executive Recommendation</dc:title>
  <dc:subject>Payment Profitability Diagnostic</dc:subject>
  <dc:creator>AstraPay Capstone</dc:creator>
  <cp:lastModifiedBy>AstraPay Capstone</cp:lastModifiedBy>
  <cp:revision>1</cp:revision>
  <dcterms:created xsi:type="dcterms:W3CDTF">2026-09-15T20:43:58Z</dcterms:created>
  <dcterms:modified xsi:type="dcterms:W3CDTF">2026-09-15T20:43:58Z</dcterms:modified>
</cp:coreProperties>
</file>